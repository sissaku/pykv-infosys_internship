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56000" y="-16711295"/>
            <a:ext cx="5080000" cy="3371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p>
            <a:pPr>
              <a:spcBef>
                <a:spcPct val="0"/>
              </a:spcBef>
              <a:spcAft>
                <a:spcPct val="60000"/>
              </a:spcAft>
            </a:pPr>
            <a:endParaRPr sz="1600">
              <a:ea typeface="Google Sans Text"/>
              <a:cs typeface="+mn-lt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3556000" y="17665066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Stage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Process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Components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1. Ingress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Client initiates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$\text{SET}/\text{DELETE}$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request.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 Client / HTTP 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2. Validation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Request undergoes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$\text{Pydantic}$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schema check.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FastAPI, Pydantic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3. Core Execution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In-memory store updates data; LRU order is adjusted.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Core Data Store, LRU Cache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4. Durability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Operation is written to the Append-Only Log on disk.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Persistence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5. Redundancy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Log entry is asynchronously shipped to the Replica Server.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Replication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6. Egress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Success confirmation is returned to the Client.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556000" y="19676746"/>
            <a:ext cx="5080000" cy="3892550"/>
          </a:xfrm>
          <a:prstGeom prst="rect">
            <a:avLst/>
          </a:prstGeom>
        </p:spPr>
        <p:txBody>
          <a:bodyPr>
            <a:spAutoFit/>
          </a:bodyPr>
          <a:p>
            <a:endParaRPr sz="2600"/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2200" b="1">
                <a:solidFill>
                  <a:srgbClr val="141414"/>
                </a:solidFill>
                <a:latin typeface="Google Sans Text"/>
                <a:ea typeface="Google Sans Text"/>
              </a:rPr>
              <a:t>Conclusion</a:t>
            </a:r>
            <a:endParaRPr sz="22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(Slide 7: Summary and Q&amp;A)</a:t>
            </a:r>
            <a:endParaRPr sz="16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PyKV successfully integrates core distributed systems concepts into a Python framework, demonstrating: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High Performance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asynchronous design.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Memory Efficiency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LRU caching.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Durability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Write-Ahead Logging.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High Availability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Replication.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We have built a resilient, scalable key-value solution. Thank you. We are now ready for your questions.</a:t>
            </a:r>
            <a:endParaRPr sz="1600">
              <a:latin typeface="Google Sans Text"/>
              <a:ea typeface="Google Sans Text"/>
            </a:endParaRPr>
          </a:p>
          <a:p>
            <a:r>
              <a:t>• WAL ensures strong durability and prevents data loss during unexpected crashes.</a:t>
            </a:r>
          </a:p>
          <a:p>
            <a:r>
              <a:t>• Log compaction keeps storage clean and speeds up system recovery.</a:t>
            </a:r>
          </a:p>
          <a:p>
            <a:r>
              <a:t>• Replication ensures continuous availability even if the Master node fails.</a:t>
            </a:r>
          </a:p>
          <a:p>
            <a:r>
              <a:t>• Architecture allows future upgrade into a multi-node distributed cluster.</a:t>
            </a:r>
          </a:p>
          <a:p>
            <a:r>
              <a:t>• PyKV delivers speed, reliability, and scalability for real‑time applications.</a:t>
            </a:r>
          </a:p>
          <a:p>
            <a:r>
              <a:t>• Suitable for systems requiring high throughput and fault tolerance.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81685" y="786765"/>
            <a:ext cx="10973435" cy="15068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sz="4400">
                <a:solidFill>
                  <a:srgbClr val="141414"/>
                </a:solidFill>
              </a:rPr>
              <a:t>                                  </a:t>
            </a:r>
            <a:r>
              <a:rPr sz="4400">
                <a:solidFill>
                  <a:srgbClr val="141414"/>
                </a:solidFill>
              </a:rPr>
              <a:t> </a:t>
            </a:r>
            <a:r>
              <a:rPr sz="4800" b="1">
                <a:solidFill>
                  <a:srgbClr val="141414"/>
                </a:solidFill>
              </a:rPr>
              <a:t>PyKV</a:t>
            </a:r>
            <a:endParaRPr sz="4800"/>
          </a:p>
          <a:p>
            <a:r>
              <a:rPr sz="4400">
                <a:solidFill>
                  <a:srgbClr val="141414"/>
                </a:solidFill>
              </a:rPr>
              <a:t> </a:t>
            </a:r>
            <a:r>
              <a:rPr sz="3600" b="1">
                <a:solidFill>
                  <a:srgbClr val="141414"/>
                </a:solidFill>
              </a:rPr>
              <a:t>A Scalable, Persistent, an</a:t>
            </a:r>
            <a:r>
              <a:rPr lang="en-US" sz="3600" b="1">
                <a:solidFill>
                  <a:srgbClr val="141414"/>
                </a:solidFill>
              </a:rPr>
              <a:t>d </a:t>
            </a:r>
            <a:r>
              <a:rPr sz="3600" b="1">
                <a:solidFill>
                  <a:srgbClr val="141414"/>
                </a:solidFill>
              </a:rPr>
              <a:t>Distributed </a:t>
            </a:r>
            <a:r>
              <a:rPr lang="en-US" sz="3600" b="1">
                <a:solidFill>
                  <a:srgbClr val="141414"/>
                </a:solidFill>
              </a:rPr>
              <a:t> </a:t>
            </a:r>
            <a:r>
              <a:rPr sz="3600" b="1">
                <a:solidFill>
                  <a:srgbClr val="141414"/>
                </a:solidFill>
              </a:rPr>
              <a:t>Key-Value Stor</a:t>
            </a:r>
            <a:r>
              <a:rPr sz="3600">
                <a:solidFill>
                  <a:srgbClr val="141414"/>
                </a:solidFill>
              </a:rPr>
              <a:t>e</a:t>
            </a:r>
            <a:endParaRPr sz="3600"/>
          </a:p>
        </p:txBody>
      </p:sp>
      <p:sp>
        <p:nvSpPr>
          <p:cNvPr id="8" name="Text Box 7"/>
          <p:cNvSpPr txBox="1"/>
          <p:nvPr/>
        </p:nvSpPr>
        <p:spPr>
          <a:xfrm>
            <a:off x="1148080" y="2890520"/>
            <a:ext cx="10974070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t>Presented By:</a:t>
            </a:r>
          </a:p>
          <a:p>
            <a:r>
              <a:t>Sana Issaku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t>Core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135"/>
            <a:ext cx="10515600" cy="4716145"/>
          </a:xfrm>
        </p:spPr>
        <p:txBody>
          <a:bodyPr>
            <a:normAutofit fontScale="90000"/>
          </a:bodyPr>
          <a:p>
            <a:endParaRPr lang="en-US" altLang="en-GB"/>
          </a:p>
          <a:p>
            <a:pPr>
              <a:defRPr sz="2400"/>
            </a:pPr>
            <a:r>
              <a:t>• Supports high traffic with fast, non-blocking async operations.</a:t>
            </a:r>
          </a:p>
          <a:p>
            <a:pPr>
              <a:defRPr sz="2400"/>
            </a:pPr>
            <a:r>
              <a:t>• Easy to scale later using sharding or modular extensions.</a:t>
            </a:r>
          </a:p>
          <a:p>
            <a:pPr>
              <a:defRPr sz="2400"/>
            </a:pPr>
            <a:r>
              <a:t>Asynchronous API Exposure: We utilize FastAPI to expose these operations.  This framework, combined with Python's async,await paradigm, ensures the server handles high concurrency using a non-blocking architecture, maximizing Request Per Second throughput.</a:t>
            </a:r>
          </a:p>
          <a:p>
            <a:pPr>
              <a:defRPr sz="2400"/>
            </a:pPr>
            <a:r>
              <a:t>Key Functions:</a:t>
            </a:r>
          </a:p>
          <a:p>
            <a:pPr>
              <a:defRPr sz="2400"/>
            </a:pPr>
            <a:r>
              <a:t>     get(key): Data retrieval from the in-memory   store.</a:t>
            </a:r>
          </a:p>
          <a:p>
            <a:pPr>
              <a:defRPr sz="2400"/>
            </a:pPr>
            <a:r>
              <a:t>     set(key, value): Insertion or update of a key-value pair.</a:t>
            </a:r>
          </a:p>
          <a:p>
            <a:pPr>
              <a:defRPr sz="2400"/>
            </a:pPr>
            <a:r>
              <a:t>     delete(key): Removal of a key-value pair.</a:t>
            </a:r>
          </a:p>
          <a:p>
            <a:pPr>
              <a:defRPr sz="2400"/>
            </a:pPr>
          </a:p>
          <a:p>
            <a:pPr>
              <a:defRPr sz="2400"/>
            </a:pPr>
          </a:p>
          <a:p>
            <a:pPr>
              <a:defRPr sz="2400"/>
            </a:pPr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Performance and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GB" b="1"/>
          </a:p>
          <a:p>
            <a:pPr>
              <a:defRPr sz="2400"/>
            </a:pPr>
            <a:r>
              <a:t> Least Recently Used (LRU) Caching</a:t>
            </a:r>
          </a:p>
          <a:p>
            <a:pPr>
              <a:defRPr sz="2400"/>
            </a:pPr>
            <a:r>
              <a:t>Purpose: To manage finite memory resources and maintain high cache hit rates by implementing an effective eviction policy.</a:t>
            </a:r>
          </a:p>
          <a:p>
            <a:pPr>
              <a:defRPr sz="2400"/>
            </a:pPr>
            <a:r>
              <a:t>Implementation: The LRU mechanism is built using a hybrid structure: a Hash Map (Python Dictionary) for O(1) key access, integrated with a Doubly Linked List for O(1) maintenance of usage order.</a:t>
            </a:r>
          </a:p>
          <a:p>
            <a:pPr>
              <a:defRPr sz="2400"/>
            </a:pPr>
            <a:r>
              <a:t>Eviction Principle: When capacity is exceeded, the item at the tail of the linked list (Least Recently Used) is instantaneously evicted.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solidFill>
                  <a:srgbClr val="141414"/>
                </a:solidFill>
              </a:rPr>
              <a:t>Pydantic Data Validation</a:t>
            </a:r>
            <a:endParaRPr lang="en-US" altLang="en-GB" b="1"/>
          </a:p>
          <a:p>
            <a:r>
              <a:rPr lang="en-US" altLang="en-GB" b="1">
                <a:solidFill>
                  <a:srgbClr val="141414"/>
                </a:solidFill>
              </a:rPr>
              <a:t>Integrity Enforcement:</a:t>
            </a:r>
            <a:r>
              <a:rPr lang="en-US" altLang="en-GB">
                <a:solidFill>
                  <a:srgbClr val="141414"/>
                </a:solidFill>
              </a:rPr>
              <a:t> All incoming API requests are subjected to validation using Pydantic.</a:t>
            </a:r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Benefit:</a:t>
            </a:r>
            <a:r>
              <a:rPr lang="en-US" altLang="en-GB">
                <a:solidFill>
                  <a:srgbClr val="141414"/>
                </a:solidFill>
              </a:rPr>
              <a:t> This ensures data typing, structure, and constraints are met before the request reaches the core logic, enhancing system reliability and preventing injection of malformed data.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t>Durability and Crash Recovery (Persistence and Recovery)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pPr>
              <a:defRPr sz="2400"/>
            </a:pPr>
            <a:r>
              <a:t>• WAL ensures data is safe even if the system crashes.</a:t>
            </a:r>
          </a:p>
          <a:p>
            <a:pPr>
              <a:defRPr sz="2400"/>
            </a:pPr>
            <a:r>
              <a:t>• Log compaction reduces file size and speeds up restart time.</a:t>
            </a:r>
          </a:p>
          <a:p>
            <a:pPr>
              <a:defRPr sz="2400"/>
            </a:pPr>
            <a:r>
              <a:t>Mechanism: Write-Ahead Logging (WAL): All mutating operations SET andDELETE are recorded to an append-only log file on persistent storage before the client receives confirmation.</a:t>
            </a:r>
          </a:p>
          <a:p>
            <a:pPr>
              <a:defRPr sz="2400"/>
            </a:pPr>
            <a:r>
              <a:t>System Recovery: Upon system restart, the Recovery module reads the entire append-only log file sequentially to fully rebuild the in-memory data store to its last committed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5" y="365125"/>
            <a:ext cx="10516235" cy="1325880"/>
          </a:xfrm>
        </p:spPr>
        <p:txBody>
          <a:bodyPr>
            <a:normAutofit/>
          </a:bodyPr>
          <a:p>
            <a:r>
              <a:rPr lang="en-US" altLang="en-GB" b="1">
                <a:solidFill>
                  <a:srgbClr val="141414"/>
                </a:solidFill>
                <a:sym typeface="+mn-ea"/>
              </a:rPr>
              <a:t>Optimization: Log Compaction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90000" lnSpcReduction="20000"/>
          </a:bodyPr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Challenge:</a:t>
            </a:r>
            <a:r>
              <a:rPr lang="en-US" altLang="en-GB">
                <a:solidFill>
                  <a:srgbClr val="141414"/>
                </a:solidFill>
              </a:rPr>
              <a:t> 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     The log file size grows rapidly due to multiple updates to the same key.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Compaction Process:</a:t>
            </a:r>
            <a:r>
              <a:rPr lang="en-US" altLang="en-GB">
                <a:solidFill>
                  <a:srgbClr val="141414"/>
                </a:solidFill>
              </a:rPr>
              <a:t> A background process scans the log, discards superseded records (e.g., old versions of updated keys or deleted keys), and creates a new, condensed log file. [Image comparing an uncompacted append-only log file with redundant operations to a compacted log file with only the final, relevant operations]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Benefit:</a:t>
            </a:r>
            <a:r>
              <a:rPr lang="en-US" altLang="en-GB">
                <a:solidFill>
                  <a:srgbClr val="141414"/>
                </a:solidFill>
              </a:rPr>
              <a:t> Dramatically reduces persistent storage requirements and accelerates recovery time.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t>Distribution and Client Interface (Replication and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3445"/>
            <a:ext cx="10515600" cy="4351338"/>
          </a:xfrm>
        </p:spPr>
        <p:txBody>
          <a:bodyPr/>
          <a:p>
            <a:pPr marL="0" indent="0">
              <a:buNone/>
            </a:pPr>
            <a:endParaRPr lang="en-US" altLang="en-GB" b="1"/>
          </a:p>
          <a:p>
            <a:pPr>
              <a:defRPr sz="2400"/>
            </a:pPr>
            <a:r>
              <a:t>Master-Replica Replication</a:t>
            </a:r>
          </a:p>
          <a:p>
            <a:pPr>
              <a:defRPr sz="2400"/>
            </a:pPr>
            <a:r>
              <a:t>High Availability (HA): We implemented an asynchronous log-shipping mechanism to achieve redundancy.</a:t>
            </a:r>
          </a:p>
          <a:p>
            <a:pPr>
              <a:defRPr sz="2400"/>
            </a:pPr>
            <a:r>
              <a:t>Process: The primary Master Server ships its append-only log entries to a designated Replica (Backup) Server.</a:t>
            </a:r>
          </a:p>
          <a:p>
            <a:pPr>
              <a:defRPr sz="2400"/>
            </a:pPr>
            <a:r>
              <a:t>Outcome: Ensures high availability and failover capability in the event of a Master node failure.</a:t>
            </a:r>
          </a:p>
          <a:p>
            <a:pPr>
              <a:defRPr sz="2400"/>
            </a:pPr>
            <a:r>
              <a:t>• Replication ensures continuous availability even if the Master node fails.</a:t>
            </a:r>
          </a:p>
          <a:p>
            <a:pPr>
              <a:defRPr sz="2400"/>
            </a:pPr>
            <a:r>
              <a:t>• Architecture allows future upgrade into a multi-node distributed cluster.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701655" y="886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  <a:sym typeface="+mn-ea"/>
              </a:rPr>
              <a:t>Client Interface and Benchmarking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</a:rPr>
              <a:t>CLI Client: </a:t>
            </a:r>
            <a:r>
              <a:rPr lang="en-US" altLang="en-GB">
                <a:solidFill>
                  <a:srgbClr val="141414"/>
                </a:solidFill>
              </a:rPr>
              <a:t>A dedicated Command Line Interface (CLI) was developed using the Python requests library to provide a user-friendly way to interact with the PyKV  HTTP API.</a:t>
            </a:r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Performance Verification: </a:t>
            </a:r>
            <a:r>
              <a:rPr lang="en-US" altLang="en-GB">
                <a:solidFill>
                  <a:srgbClr val="141414"/>
                </a:solidFill>
              </a:rPr>
              <a:t>Rigorous benchmarking was conducted to measure system performance under load, focusing on: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</a:t>
            </a:r>
            <a:r>
              <a:rPr lang="en-US" altLang="en-GB" b="1">
                <a:solidFill>
                  <a:srgbClr val="141414"/>
                </a:solidFill>
              </a:rPr>
              <a:t> Throughput (</a:t>
            </a:r>
            <a:r>
              <a:rPr lang="en-US" altLang="en-GB">
                <a:solidFill>
                  <a:srgbClr val="141414"/>
                </a:solidFill>
              </a:rPr>
              <a:t>RPS)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</a:t>
            </a:r>
            <a:r>
              <a:rPr lang="en-US" altLang="en-GB" b="1">
                <a:solidFill>
                  <a:srgbClr val="141414"/>
                </a:solidFill>
              </a:rPr>
              <a:t> Latency </a:t>
            </a:r>
            <a:r>
              <a:rPr lang="en-US" altLang="en-GB">
                <a:solidFill>
                  <a:srgbClr val="141414"/>
                </a:solidFill>
              </a:rPr>
              <a:t>(particularly for write operations involving disk I/O)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 Validation of system scalability.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</a:rPr>
              <a:t>PyKV: Integrated Workflow</a:t>
            </a:r>
            <a:endParaRPr lang="en-US" altLang="en-GB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0478" b="9559"/>
          <a:stretch>
            <a:fillRect/>
          </a:stretch>
        </p:blipFill>
        <p:spPr>
          <a:xfrm>
            <a:off x="2400935" y="1562100"/>
            <a:ext cx="7880985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4865" y="2226945"/>
            <a:ext cx="5187315" cy="225171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en-GB" sz="6600" b="1">
                <a:ln/>
                <a:solidFill>
                  <a:srgbClr val="141414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 THANK YOU</a:t>
            </a:r>
            <a:endParaRPr lang="en-US" altLang="en-GB" sz="6600" b="1">
              <a:ln/>
              <a:solidFill>
                <a:schemeClr val="accen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4688</Words>
  <Application>WPS Presentation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Google Sans</vt:lpstr>
      <vt:lpstr>Google Sans Text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Gayatri Kolapati</cp:lastModifiedBy>
  <cp:revision>4</cp:revision>
  <dcterms:created xsi:type="dcterms:W3CDTF">2025-07-23T00:59:00Z</dcterms:created>
  <dcterms:modified xsi:type="dcterms:W3CDTF">2025-12-11T04:29:51Z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FC486835FB714BDEBD2F71349A1F952D_11</vt:lpwstr>
  </property>
  <property fmtid="{D5CDD505-2E9C-101B-9397-08002B2CF9AE}" pid="3" name="KSOProductBuildVer">
    <vt:lpwstr>2057-12.2.0.23158</vt:lpwstr>
  </property>
</Properties>
</file>